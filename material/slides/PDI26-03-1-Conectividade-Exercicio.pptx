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01" r:id="rId5"/>
    <p:sldId id="398" r:id="rId6"/>
    <p:sldId id="383" r:id="rId7"/>
    <p:sldId id="352" r:id="rId8"/>
    <p:sldId id="358" r:id="rId9"/>
  </p:sldIdLst>
  <p:sldSz cx="9144000" cy="6858000" type="screen4x3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genes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06A"/>
    <a:srgbClr val="DFE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3EF2D-CF94-EE3E-16B5-C9DAC4E0CC2C}" v="198" dt="2026-08-13T23:09:07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AST DOS SANTOS" userId="S::gabriel.santos12@utp.edu.br::2bdd2d3f-0294-44db-ad6d-1ec35b13b75a" providerId="AD" clId="Web-{6363EF2D-CF94-EE3E-16B5-C9DAC4E0CC2C}"/>
    <pc:docChg chg="modSld">
      <pc:chgData name="GABRIEL AST DOS SANTOS" userId="S::gabriel.santos12@utp.edu.br::2bdd2d3f-0294-44db-ad6d-1ec35b13b75a" providerId="AD" clId="Web-{6363EF2D-CF94-EE3E-16B5-C9DAC4E0CC2C}" dt="2026-08-13T23:09:07.863" v="201"/>
      <pc:docMkLst>
        <pc:docMk/>
      </pc:docMkLst>
      <pc:sldChg chg="modSp">
        <pc:chgData name="GABRIEL AST DOS SANTOS" userId="S::gabriel.santos12@utp.edu.br::2bdd2d3f-0294-44db-ad6d-1ec35b13b75a" providerId="AD" clId="Web-{6363EF2D-CF94-EE3E-16B5-C9DAC4E0CC2C}" dt="2026-08-13T23:09:07.863" v="201"/>
        <pc:sldMkLst>
          <pc:docMk/>
          <pc:sldMk cId="1711752261" sldId="352"/>
        </pc:sldMkLst>
        <pc:graphicFrameChg chg="mod modGraphic">
          <ac:chgData name="GABRIEL AST DOS SANTOS" userId="S::gabriel.santos12@utp.edu.br::2bdd2d3f-0294-44db-ad6d-1ec35b13b75a" providerId="AD" clId="Web-{6363EF2D-CF94-EE3E-16B5-C9DAC4E0CC2C}" dt="2026-08-13T23:09:07.863" v="201"/>
          <ac:graphicFrameMkLst>
            <pc:docMk/>
            <pc:sldMk cId="1711752261" sldId="352"/>
            <ac:graphicFrameMk id="4" creationId="{00000000-0000-0000-0000-000000000000}"/>
          </ac:graphicFrameMkLst>
        </pc:graphicFrameChg>
      </pc:sldChg>
      <pc:sldChg chg="modSp">
        <pc:chgData name="GABRIEL AST DOS SANTOS" userId="S::gabriel.santos12@utp.edu.br::2bdd2d3f-0294-44db-ad6d-1ec35b13b75a" providerId="AD" clId="Web-{6363EF2D-CF94-EE3E-16B5-C9DAC4E0CC2C}" dt="2026-08-13T23:02:59.398" v="151" actId="20577"/>
        <pc:sldMkLst>
          <pc:docMk/>
          <pc:sldMk cId="2007665019" sldId="383"/>
        </pc:sldMkLst>
        <pc:spChg chg="mod">
          <ac:chgData name="GABRIEL AST DOS SANTOS" userId="S::gabriel.santos12@utp.edu.br::2bdd2d3f-0294-44db-ad6d-1ec35b13b75a" providerId="AD" clId="Web-{6363EF2D-CF94-EE3E-16B5-C9DAC4E0CC2C}" dt="2026-08-13T23:02:59.398" v="151" actId="20577"/>
          <ac:spMkLst>
            <pc:docMk/>
            <pc:sldMk cId="2007665019" sldId="383"/>
            <ac:spMk id="3" creationId="{00000000-0000-0000-0000-000000000000}"/>
          </ac:spMkLst>
        </pc:spChg>
        <pc:graphicFrameChg chg="mod modGraphic">
          <ac:chgData name="GABRIEL AST DOS SANTOS" userId="S::gabriel.santos12@utp.edu.br::2bdd2d3f-0294-44db-ad6d-1ec35b13b75a" providerId="AD" clId="Web-{6363EF2D-CF94-EE3E-16B5-C9DAC4E0CC2C}" dt="2026-08-13T22:58:43.265" v="104"/>
          <ac:graphicFrameMkLst>
            <pc:docMk/>
            <pc:sldMk cId="2007665019" sldId="383"/>
            <ac:graphicFrameMk id="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706090"/>
          </a:xfrm>
          <a:gradFill>
            <a:gsLst>
              <a:gs pos="0">
                <a:schemeClr val="accent6"/>
              </a:gs>
              <a:gs pos="35000">
                <a:schemeClr val="accent6">
                  <a:lumMod val="40000"/>
                  <a:lumOff val="6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none"/>
        </p:style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pt-BR"/>
              <a:t>Clique para editar o estilo do título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10915"/>
            <a:ext cx="4038600" cy="49152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10914"/>
            <a:ext cx="4038600" cy="49152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706090"/>
          </a:xfrm>
          <a:gradFill>
            <a:gsLst>
              <a:gs pos="0">
                <a:schemeClr val="accent6"/>
              </a:gs>
              <a:gs pos="35000">
                <a:schemeClr val="accent6">
                  <a:lumMod val="40000"/>
                  <a:lumOff val="6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none"/>
        </p:style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pt-BR"/>
              <a:t>Clique para editar o estilo do título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354931"/>
            <a:ext cx="4040188" cy="705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060848"/>
            <a:ext cx="4040188" cy="406531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354931"/>
            <a:ext cx="4041775" cy="705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060848"/>
            <a:ext cx="4041775" cy="406531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DEF28-C405-4A44-B2AD-D4C206C75549}" type="datetimeFigureOut">
              <a:rPr lang="pt-BR" smtClean="0"/>
              <a:pPr/>
              <a:t>13/08/2026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D3DB0-83AE-4363-8B2A-39EC26D38A37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/>
              <a:t>Relacionamentos entre Pixels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/>
              <a:t>Processamento de Imagens</a:t>
            </a:r>
          </a:p>
          <a:p>
            <a:r>
              <a:rPr lang="pt-BR"/>
              <a:t>Prof. Diógenes Furlan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316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solidFill>
                  <a:srgbClr val="0070C0"/>
                </a:solidFill>
              </a:rPr>
              <a:t>Demonstração do Algoritmo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44008" y="1844824"/>
            <a:ext cx="4042792" cy="4281339"/>
          </a:xfrm>
        </p:spPr>
        <p:txBody>
          <a:bodyPr>
            <a:normAutofit/>
          </a:bodyPr>
          <a:lstStyle/>
          <a:p>
            <a:r>
              <a:rPr lang="pt-BR" sz="2800"/>
              <a:t>Cinza = V(1)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203515"/>
              </p:ext>
            </p:extLst>
          </p:nvPr>
        </p:nvGraphicFramePr>
        <p:xfrm>
          <a:off x="467544" y="1844824"/>
          <a:ext cx="4032450" cy="41044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92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solidFill>
                  <a:srgbClr val="0070C0"/>
                </a:solidFill>
              </a:rPr>
              <a:t>Rotulação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pt-BR"/>
              <a:t>Exemplo 2</a:t>
            </a:r>
          </a:p>
          <a:p>
            <a:pPr marL="0" indent="0">
              <a:buNone/>
            </a:pP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1,3 = 1</a:t>
            </a: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2</a:t>
            </a: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4,7 = 4</a:t>
            </a: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5,8 = 5</a:t>
            </a: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6</a:t>
            </a: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9</a:t>
            </a: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10</a:t>
            </a: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11</a:t>
            </a: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12</a:t>
            </a:r>
          </a:p>
          <a:p>
            <a:pPr marL="0" indent="0">
              <a:buNone/>
            </a:pPr>
            <a:r>
              <a:rPr lang="pt-BR">
                <a:ea typeface="Calibri"/>
                <a:cs typeface="Calibri"/>
              </a:rPr>
              <a:t>13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40344"/>
              </p:ext>
            </p:extLst>
          </p:nvPr>
        </p:nvGraphicFramePr>
        <p:xfrm>
          <a:off x="2127849" y="2616679"/>
          <a:ext cx="4542330" cy="41044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4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42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42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42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42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42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66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solidFill>
                  <a:srgbClr val="FF0000"/>
                </a:solidFill>
              </a:rPr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/>
              <a:t>1) Considere </a:t>
            </a:r>
            <a:r>
              <a:rPr lang="pt-BR" err="1"/>
              <a:t>Sc</a:t>
            </a:r>
            <a:r>
              <a:rPr lang="pt-BR"/>
              <a:t>={1} e a imagem abaixo: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pPr marL="0" indent="0">
              <a:buNone/>
            </a:pPr>
            <a:r>
              <a:rPr lang="pt-BR"/>
              <a:t>2) Como o procedimento de rotular deve ser 	alterado para obtermos componentes</a:t>
            </a:r>
            <a:br>
              <a:rPr lang="pt-BR"/>
            </a:br>
            <a:r>
              <a:rPr lang="pt-BR"/>
              <a:t>	8-conectadas???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204182"/>
              </p:ext>
            </p:extLst>
          </p:nvPr>
        </p:nvGraphicFramePr>
        <p:xfrm>
          <a:off x="971600" y="1700808"/>
          <a:ext cx="4032450" cy="28731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0446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446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75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>
                <a:solidFill>
                  <a:srgbClr val="FF0000"/>
                </a:solidFill>
              </a:rPr>
              <a:t>Exercícios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/>
              <a:t>3) Para a imagem abaixo, dê A</a:t>
            </a:r>
            <a:r>
              <a:rPr lang="pt-BR" baseline="-25000"/>
              <a:t>4</a:t>
            </a:r>
            <a:r>
              <a:rPr lang="pt-BR"/>
              <a:t>, A</a:t>
            </a:r>
            <a:r>
              <a:rPr lang="pt-BR" baseline="-25000"/>
              <a:t>8</a:t>
            </a:r>
            <a:r>
              <a:rPr lang="pt-BR"/>
              <a:t> e A</a:t>
            </a:r>
            <a:r>
              <a:rPr lang="pt-BR" baseline="-25000"/>
              <a:t>m</a:t>
            </a:r>
            <a:r>
              <a:rPr lang="pt-BR"/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15524"/>
              </p:ext>
            </p:extLst>
          </p:nvPr>
        </p:nvGraphicFramePr>
        <p:xfrm>
          <a:off x="539552" y="2420888"/>
          <a:ext cx="3960439" cy="37444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5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7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57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4916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16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16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16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16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16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916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896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447A93D7B66246BCA41ADDF59052CC" ma:contentTypeVersion="3" ma:contentTypeDescription="Create a new document." ma:contentTypeScope="" ma:versionID="2d289cfd863041212a2416f9f704d601">
  <xsd:schema xmlns:xsd="http://www.w3.org/2001/XMLSchema" xmlns:xs="http://www.w3.org/2001/XMLSchema" xmlns:p="http://schemas.microsoft.com/office/2006/metadata/properties" xmlns:ns2="8417da0c-788a-420f-851a-766bb9c348a8" targetNamespace="http://schemas.microsoft.com/office/2006/metadata/properties" ma:root="true" ma:fieldsID="c7b6b1d3d124d46c0c27d3f8589e677e" ns2:_="">
    <xsd:import namespace="8417da0c-788a-420f-851a-766bb9c348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17da0c-788a-420f-851a-766bb9c348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033460-FCDA-47BB-BB06-F79F1B1697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0747C-EB41-4AA7-99F8-6513EEA7480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9BF4933-4EEA-490E-AD94-6E349B213133}">
  <ds:schemaRefs>
    <ds:schemaRef ds:uri="8417da0c-788a-420f-851a-766bb9c348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Tema do Office</vt:lpstr>
      <vt:lpstr>Relacionamentos entre Pixels</vt:lpstr>
      <vt:lpstr>Demonstração do Algoritmo</vt:lpstr>
      <vt:lpstr>Rotulação</vt:lpstr>
      <vt:lpstr>Exercícios</vt:lpstr>
      <vt:lpstr>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Diogenes</dc:creator>
  <cp:revision>1</cp:revision>
  <cp:lastPrinted>2022-04-25T01:31:10Z</cp:lastPrinted>
  <dcterms:created xsi:type="dcterms:W3CDTF">2013-08-03T03:22:54Z</dcterms:created>
  <dcterms:modified xsi:type="dcterms:W3CDTF">2026-08-13T23:09:56Z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0x010100BC447A93D7B66246BCA41ADDF59052CC</vt:lpwstr>
  </property>
</Properties>
</file>